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A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EF9F2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B8401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365760"/>
            <a:ext cx="1091153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i="1" spc="400" kern="0" dirty="0">
                <a:solidFill>
                  <a:srgbClr val="FFFAF0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Taiwan Immigration Youth Alliance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40080" y="2011680"/>
            <a:ext cx="1091153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B8401E"/>
                </a:solidFill>
                <a:latin typeface="Noto Serif TC" pitchFamily="34" charset="0"/>
                <a:ea typeface="Noto Serif TC" pitchFamily="34" charset="-122"/>
                <a:cs typeface="Noto Serif TC" pitchFamily="34" charset="-120"/>
              </a:rPr>
              <a:t>TIYA 官方網站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640080" y="3154680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2A1A0A"/>
                </a:solidFill>
                <a:latin typeface="Noto Serif TC" pitchFamily="34" charset="0"/>
                <a:ea typeface="Noto Serif TC" pitchFamily="34" charset="-122"/>
                <a:cs typeface="Noto Serif TC" pitchFamily="34" charset="-120"/>
              </a:rPr>
              <a:t>開發進度與下一步</a:t>
            </a:r>
            <a:endParaRPr lang="en-US" sz="5000" dirty="0"/>
          </a:p>
        </p:txBody>
      </p:sp>
      <p:sp>
        <p:nvSpPr>
          <p:cNvPr id="7" name="Shape 5"/>
          <p:cNvSpPr/>
          <p:nvPr/>
        </p:nvSpPr>
        <p:spPr>
          <a:xfrm>
            <a:off x="640080" y="4297680"/>
            <a:ext cx="1463040" cy="54864"/>
          </a:xfrm>
          <a:prstGeom prst="rect">
            <a:avLst/>
          </a:prstGeom>
          <a:solidFill>
            <a:srgbClr val="CE5942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448056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5C43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例會分享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640080" y="502920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i="1" spc="300" kern="0" dirty="0">
                <a:solidFill>
                  <a:srgbClr val="CE5942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2026-05-17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57200" y="6446520"/>
            <a:ext cx="103628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400" kern="0" dirty="0">
                <a:solidFill>
                  <a:srgbClr val="FFFAF0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台灣移民青年倡議陣線協會  ·  新二代留聲機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0637215" y="644652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spc="200" kern="0" dirty="0">
                <a:solidFill>
                  <a:srgbClr val="FFF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  /  22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A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F9F2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6459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400" kern="0" dirty="0">
                <a:solidFill>
                  <a:srgbClr val="5C43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TIYA · 移青陣留聲機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0637215" y="644652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spc="200" kern="0" dirty="0">
                <a:solidFill>
                  <a:srgbClr val="5C431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  /  22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685800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B8401E"/>
                </a:solidFill>
                <a:latin typeface="Noto Serif TC" pitchFamily="34" charset="0"/>
                <a:ea typeface="Noto Serif TC" pitchFamily="34" charset="-122"/>
                <a:cs typeface="Noto Serif TC" pitchFamily="34" charset="-120"/>
              </a:rPr>
              <a:t>今天要分享的重點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640080" y="1554480"/>
            <a:ext cx="1280160" cy="54864"/>
          </a:xfrm>
          <a:prstGeom prst="rect">
            <a:avLst/>
          </a:prstGeom>
          <a:solidFill>
            <a:srgbClr val="CE5942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69164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spc="300" kern="0" dirty="0">
                <a:solidFill>
                  <a:srgbClr val="CE5942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TL;DR — 給時間有限的讀者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" y="2194560"/>
            <a:ext cx="10911535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1400"/>
              </a:spcAft>
              <a:buSzPct val="100000"/>
              <a:buChar char="•"/>
            </a:pPr>
            <a:r>
              <a:rPr lang="en-US" sz="1900" dirty="0">
                <a:solidFill>
                  <a:srgbClr val="2A1A0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網站目前可瀏覽，但 尚未正式上線。8 個主要區塊、繁中／英文雙語。</a:t>
            </a:r>
            <a:endParaRPr lang="en-US" sz="1900" dirty="0"/>
          </a:p>
          <a:p>
            <a:pPr marL="279400" indent="-279400">
              <a:spcAft>
                <a:spcPts val="1400"/>
              </a:spcAft>
              <a:buSzPct val="100000"/>
              <a:buChar char="•"/>
            </a:pPr>
            <a:r>
              <a:rPr lang="en-US" sz="1900" dirty="0">
                <a:solidFill>
                  <a:srgbClr val="2A1A0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協會帳戶已開戶，捐款區只差填入實際資訊就能對外。</a:t>
            </a:r>
            <a:endParaRPr lang="en-US" sz="1900" dirty="0"/>
          </a:p>
          <a:p>
            <a:pPr marL="279400" indent="-279400">
              <a:spcAft>
                <a:spcPts val="1400"/>
              </a:spcAft>
              <a:buSzPct val="100000"/>
              <a:buChar char="•"/>
            </a:pPr>
            <a:r>
              <a:rPr lang="en-US" sz="1900" dirty="0">
                <a:solidFill>
                  <a:srgbClr val="2A1A0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擁有官網的核心價值：訊息主導權、長期內容資產、媒體／政府的對接正門、不被社群演算法綁架。</a:t>
            </a:r>
            <a:endParaRPr lang="en-US" sz="1900" dirty="0"/>
          </a:p>
          <a:p>
            <a:pPr marL="279400" indent="-279400">
              <a:spcAft>
                <a:spcPts val="1400"/>
              </a:spcAft>
              <a:buSzPct val="100000"/>
              <a:buChar char="•"/>
            </a:pPr>
            <a:r>
              <a:rPr lang="en-US" sz="1900" dirty="0">
                <a:solidFill>
                  <a:srgbClr val="2A1A0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🔴 例會今天最重要的兩件事：網域 + Hero 標語。</a:t>
            </a:r>
            <a:endParaRPr lang="en-US" sz="1900" dirty="0"/>
          </a:p>
          <a:p>
            <a:pPr marL="279400" indent="-279400">
              <a:spcAft>
                <a:spcPts val="1400"/>
              </a:spcAft>
              <a:buSzPct val="100000"/>
              <a:buChar char="•"/>
            </a:pPr>
            <a:r>
              <a:rPr lang="en-US" sz="1900" dirty="0">
                <a:solidFill>
                  <a:srgbClr val="2A1A0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🟡 給成員許願：成員故事頁（自願公開的人才做）。</a:t>
            </a:r>
            <a:endParaRPr lang="en-US" sz="1900" dirty="0"/>
          </a:p>
          <a:p>
            <a:pPr marL="279400" indent="-279400">
              <a:spcAft>
                <a:spcPts val="1400"/>
              </a:spcAft>
              <a:buSzPct val="100000"/>
              <a:buChar char="•"/>
            </a:pPr>
            <a:r>
              <a:rPr lang="en-US" sz="1900" dirty="0">
                <a:solidFill>
                  <a:srgbClr val="2A1A0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⚪ 其他可以慢慢聊的：身份分流、媒體採訪聯絡單。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2A1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F9F2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400" kern="0" dirty="0">
                <a:solidFill>
                  <a:srgbClr val="FAEED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TIYA · 移青陣留聲機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1783080"/>
            <a:ext cx="32004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0" b="1" dirty="0">
                <a:solidFill>
                  <a:srgbClr val="EF9F27"/>
                </a:solidFill>
                <a:latin typeface="Noto Serif TC" pitchFamily="34" charset="0"/>
                <a:ea typeface="Noto Serif TC" pitchFamily="34" charset="-122"/>
                <a:cs typeface="Noto Serif TC" pitchFamily="34" charset="-120"/>
              </a:rPr>
              <a:t>一</a:t>
            </a:r>
            <a:endParaRPr lang="en-US" sz="20000" dirty="0"/>
          </a:p>
        </p:txBody>
      </p:sp>
      <p:sp>
        <p:nvSpPr>
          <p:cNvPr id="5" name="Text 3"/>
          <p:cNvSpPr/>
          <p:nvPr/>
        </p:nvSpPr>
        <p:spPr>
          <a:xfrm>
            <a:off x="3840480" y="2514600"/>
            <a:ext cx="7772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AF0"/>
                </a:solidFill>
                <a:latin typeface="Noto Serif TC" pitchFamily="34" charset="0"/>
                <a:ea typeface="Noto Serif TC" pitchFamily="34" charset="-122"/>
                <a:cs typeface="Noto Serif TC" pitchFamily="34" charset="-120"/>
              </a:rPr>
              <a:t>現況盤點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3840480" y="365760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i="1" spc="400" kern="0" dirty="0">
                <a:solidFill>
                  <a:srgbClr val="CE5942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What We've Built So Far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3840480" y="4343400"/>
            <a:ext cx="1280160" cy="54864"/>
          </a:xfrm>
          <a:prstGeom prst="rect">
            <a:avLst/>
          </a:prstGeom>
          <a:solidFill>
            <a:srgbClr val="CE5942"/>
          </a:solidFill>
          <a:ln/>
        </p:spPr>
      </p:sp>
      <p:sp>
        <p:nvSpPr>
          <p:cNvPr id="8" name="Text 6"/>
          <p:cNvSpPr/>
          <p:nvPr/>
        </p:nvSpPr>
        <p:spPr>
          <a:xfrm>
            <a:off x="10637215" y="644652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spc="200" kern="0" dirty="0">
                <a:solidFill>
                  <a:srgbClr val="FAEED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3  /  22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A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F9F2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6459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400" kern="0" dirty="0">
                <a:solidFill>
                  <a:srgbClr val="5C43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TIYA · 移青陣留聲機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0637215" y="644652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spc="200" kern="0" dirty="0">
                <a:solidFill>
                  <a:srgbClr val="5C431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4  /  22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685800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B8401E"/>
                </a:solidFill>
                <a:latin typeface="Noto Serif TC" pitchFamily="34" charset="0"/>
                <a:ea typeface="Noto Serif TC" pitchFamily="34" charset="-122"/>
                <a:cs typeface="Noto Serif TC" pitchFamily="34" charset="-120"/>
              </a:rPr>
              <a:t>1.1 ｜ 網站架構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640080" y="1554480"/>
            <a:ext cx="1280160" cy="54864"/>
          </a:xfrm>
          <a:prstGeom prst="rect">
            <a:avLst/>
          </a:prstGeom>
          <a:solidFill>
            <a:srgbClr val="CE5942"/>
          </a:solidFill>
          <a:ln/>
        </p:spPr>
      </p:sp>
      <p:sp>
        <p:nvSpPr>
          <p:cNvPr id="7" name="Shape 5"/>
          <p:cNvSpPr/>
          <p:nvPr/>
        </p:nvSpPr>
        <p:spPr>
          <a:xfrm>
            <a:off x="640080" y="1828800"/>
            <a:ext cx="11521440" cy="502920"/>
          </a:xfrm>
          <a:prstGeom prst="rect">
            <a:avLst/>
          </a:prstGeom>
          <a:solidFill>
            <a:srgbClr val="B8401E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828800"/>
            <a:ext cx="1463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AF0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區塊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2103120" y="1828800"/>
            <a:ext cx="6858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AF0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內容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8961120" y="1828800"/>
            <a:ext cx="3200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AF0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狀態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40080" y="2331720"/>
            <a:ext cx="11521440" cy="502920"/>
          </a:xfrm>
          <a:prstGeom prst="rect">
            <a:avLst/>
          </a:prstGeom>
          <a:solidFill>
            <a:srgbClr val="FAEEDA"/>
          </a:solidFill>
          <a:ln w="6350">
            <a:solidFill>
              <a:srgbClr val="F5DFB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2331720"/>
            <a:ext cx="1463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B8401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Hero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2103120" y="2331720"/>
            <a:ext cx="6858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2A1A0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首屏：標語＋簡介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8961120" y="2331720"/>
            <a:ext cx="3200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B8401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✅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640080" y="2834640"/>
            <a:ext cx="11521440" cy="502920"/>
          </a:xfrm>
          <a:prstGeom prst="rect">
            <a:avLst/>
          </a:prstGeom>
          <a:solidFill>
            <a:srgbClr val="FFFAF0"/>
          </a:solidFill>
          <a:ln w="6350">
            <a:solidFill>
              <a:srgbClr val="F5DFB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834640"/>
            <a:ext cx="1463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B8401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About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2103120" y="2834640"/>
            <a:ext cx="6858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2A1A0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關於我們、來源國家、核心價值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961120" y="2834640"/>
            <a:ext cx="3200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B8401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✅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640080" y="3337560"/>
            <a:ext cx="11521440" cy="502920"/>
          </a:xfrm>
          <a:prstGeom prst="rect">
            <a:avLst/>
          </a:prstGeom>
          <a:solidFill>
            <a:srgbClr val="FAEEDA"/>
          </a:solidFill>
          <a:ln w="6350">
            <a:solidFill>
              <a:srgbClr val="F5DFB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337560"/>
            <a:ext cx="1463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B8401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News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2103120" y="3337560"/>
            <a:ext cx="6858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2A1A0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媒體報導（公視、想想論壇 2 篇）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8961120" y="3337560"/>
            <a:ext cx="3200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B8401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✅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640080" y="3840480"/>
            <a:ext cx="11521440" cy="502920"/>
          </a:xfrm>
          <a:prstGeom prst="rect">
            <a:avLst/>
          </a:prstGeom>
          <a:solidFill>
            <a:srgbClr val="FFFAF0"/>
          </a:solidFill>
          <a:ln w="6350">
            <a:solidFill>
              <a:srgbClr val="F5DFB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3840480"/>
            <a:ext cx="1463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B8401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Events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2103120" y="3840480"/>
            <a:ext cx="6858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2A1A0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實體活動（FB 嵌入，2 場）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8961120" y="3840480"/>
            <a:ext cx="3200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B8401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✅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640080" y="4343400"/>
            <a:ext cx="11521440" cy="502920"/>
          </a:xfrm>
          <a:prstGeom prst="rect">
            <a:avLst/>
          </a:prstGeom>
          <a:solidFill>
            <a:srgbClr val="FAEEDA"/>
          </a:solidFill>
          <a:ln w="6350">
            <a:solidFill>
              <a:srgbClr val="F5DFB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0080" y="4343400"/>
            <a:ext cx="1463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B8401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Column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2103120" y="4343400"/>
            <a:ext cx="6858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2A1A0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天下獨立評論專欄 3 篇＋投稿 CTA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8961120" y="4343400"/>
            <a:ext cx="3200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B8401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✅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0080" y="4846320"/>
            <a:ext cx="11521440" cy="502920"/>
          </a:xfrm>
          <a:prstGeom prst="rect">
            <a:avLst/>
          </a:prstGeom>
          <a:solidFill>
            <a:srgbClr val="FFFAF0"/>
          </a:solidFill>
          <a:ln w="6350">
            <a:solidFill>
              <a:srgbClr val="F5DFB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0080" y="4846320"/>
            <a:ext cx="1463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B8401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Donate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2103120" y="4846320"/>
            <a:ext cx="6858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2A1A0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免責聲明＋匯款資訊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8961120" y="4846320"/>
            <a:ext cx="3200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B8401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🟡 帳戶已開戶，待填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0080" y="5349240"/>
            <a:ext cx="11521440" cy="502920"/>
          </a:xfrm>
          <a:prstGeom prst="rect">
            <a:avLst/>
          </a:prstGeom>
          <a:solidFill>
            <a:srgbClr val="FAEEDA"/>
          </a:solidFill>
          <a:ln w="6350">
            <a:solidFill>
              <a:srgbClr val="F5DFB6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0080" y="5349240"/>
            <a:ext cx="1463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B8401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Social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2103120" y="5349240"/>
            <a:ext cx="6858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2A1A0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FB、IG、Threads、Email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8961120" y="5349240"/>
            <a:ext cx="3200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B8401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✅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640080" y="5852160"/>
            <a:ext cx="11521440" cy="502920"/>
          </a:xfrm>
          <a:prstGeom prst="rect">
            <a:avLst/>
          </a:prstGeom>
          <a:solidFill>
            <a:srgbClr val="FFFAF0"/>
          </a:solidFill>
          <a:ln w="6350">
            <a:solidFill>
              <a:srgbClr val="F5DFB6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40080" y="5852160"/>
            <a:ext cx="1463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B8401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Footer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2103120" y="5852160"/>
            <a:ext cx="6858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2A1A0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聯絡、社群、版權</a:t>
            </a:r>
            <a:endParaRPr lang="en-US" sz="1600" dirty="0"/>
          </a:p>
        </p:txBody>
      </p:sp>
      <p:sp>
        <p:nvSpPr>
          <p:cNvPr id="42" name="Text 40"/>
          <p:cNvSpPr/>
          <p:nvPr/>
        </p:nvSpPr>
        <p:spPr>
          <a:xfrm>
            <a:off x="8961120" y="5852160"/>
            <a:ext cx="3200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B8401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✅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A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F9F2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6459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400" kern="0" dirty="0">
                <a:solidFill>
                  <a:srgbClr val="5C43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TIYA · 移青陣留聲機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0637215" y="644652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spc="200" kern="0" dirty="0">
                <a:solidFill>
                  <a:srgbClr val="5C431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5  /  22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685800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B8401E"/>
                </a:solidFill>
                <a:latin typeface="Noto Serif TC" pitchFamily="34" charset="0"/>
                <a:ea typeface="Noto Serif TC" pitchFamily="34" charset="-122"/>
                <a:cs typeface="Noto Serif TC" pitchFamily="34" charset="-120"/>
              </a:rPr>
              <a:t>1.2 ｜ 技術基底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640080" y="1554480"/>
            <a:ext cx="1280160" cy="54864"/>
          </a:xfrm>
          <a:prstGeom prst="rect">
            <a:avLst/>
          </a:prstGeom>
          <a:solidFill>
            <a:srgbClr val="CE5942"/>
          </a:solidFill>
          <a:ln/>
        </p:spPr>
      </p:sp>
      <p:sp>
        <p:nvSpPr>
          <p:cNvPr id="7" name="Shape 5"/>
          <p:cNvSpPr/>
          <p:nvPr/>
        </p:nvSpPr>
        <p:spPr>
          <a:xfrm>
            <a:off x="640080" y="1828800"/>
            <a:ext cx="109728" cy="1371600"/>
          </a:xfrm>
          <a:prstGeom prst="rect">
            <a:avLst/>
          </a:prstGeom>
          <a:solidFill>
            <a:srgbClr val="CE5942"/>
          </a:solidFill>
          <a:ln/>
        </p:spPr>
      </p:sp>
      <p:sp>
        <p:nvSpPr>
          <p:cNvPr id="8" name="Shape 6"/>
          <p:cNvSpPr/>
          <p:nvPr/>
        </p:nvSpPr>
        <p:spPr>
          <a:xfrm>
            <a:off x="749808" y="1828800"/>
            <a:ext cx="10728655" cy="1371600"/>
          </a:xfrm>
          <a:prstGeom prst="rect">
            <a:avLst/>
          </a:prstGeom>
          <a:solidFill>
            <a:srgbClr val="FFFFFF"/>
          </a:solidFill>
          <a:ln w="6350">
            <a:solidFill>
              <a:srgbClr val="F5DFB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1920240"/>
            <a:ext cx="10362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8401E"/>
                </a:solidFill>
                <a:latin typeface="Noto Serif TC" pitchFamily="34" charset="0"/>
                <a:ea typeface="Noto Serif TC" pitchFamily="34" charset="-122"/>
                <a:cs typeface="Noto Serif TC" pitchFamily="34" charset="-120"/>
              </a:rPr>
              <a:t>Astro（網站框架）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914400" y="2377440"/>
            <a:ext cx="103628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2A1A0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「靜態網站」白話：像印好的書，打開就快。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2A1A0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適合我們的內容型網站 — 不用主機月費、不用資料庫。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2A1A0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未來要做會員/募款這類互動功能也能「混搭」加上去。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3383280"/>
            <a:ext cx="109728" cy="1371600"/>
          </a:xfrm>
          <a:prstGeom prst="rect">
            <a:avLst/>
          </a:prstGeom>
          <a:solidFill>
            <a:srgbClr val="CE5942"/>
          </a:solidFill>
          <a:ln/>
        </p:spPr>
      </p:sp>
      <p:sp>
        <p:nvSpPr>
          <p:cNvPr id="12" name="Shape 10"/>
          <p:cNvSpPr/>
          <p:nvPr/>
        </p:nvSpPr>
        <p:spPr>
          <a:xfrm>
            <a:off x="749808" y="3383280"/>
            <a:ext cx="10728655" cy="1371600"/>
          </a:xfrm>
          <a:prstGeom prst="rect">
            <a:avLst/>
          </a:prstGeom>
          <a:solidFill>
            <a:srgbClr val="FFFFFF"/>
          </a:solidFill>
          <a:ln w="6350">
            <a:solidFill>
              <a:srgbClr val="F5DFB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14400" y="3474720"/>
            <a:ext cx="10362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8401E"/>
                </a:solidFill>
                <a:latin typeface="Noto Serif TC" pitchFamily="34" charset="0"/>
                <a:ea typeface="Noto Serif TC" pitchFamily="34" charset="-122"/>
                <a:cs typeface="Noto Serif TC" pitchFamily="34" charset="-120"/>
              </a:rPr>
              <a:t>Markdown（內容管理）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914400" y="3931920"/>
            <a:ext cx="103628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2A1A0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活動、專欄、新聞都是純文字檔放在 src/content/。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2A1A0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新增一篇 = 新增一個檔案，技術門檻低。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40080" y="4937760"/>
            <a:ext cx="109728" cy="1371600"/>
          </a:xfrm>
          <a:prstGeom prst="rect">
            <a:avLst/>
          </a:prstGeom>
          <a:solidFill>
            <a:srgbClr val="CE5942"/>
          </a:solidFill>
          <a:ln/>
        </p:spPr>
      </p:sp>
      <p:sp>
        <p:nvSpPr>
          <p:cNvPr id="16" name="Shape 14"/>
          <p:cNvSpPr/>
          <p:nvPr/>
        </p:nvSpPr>
        <p:spPr>
          <a:xfrm>
            <a:off x="749808" y="4937760"/>
            <a:ext cx="10728655" cy="1371600"/>
          </a:xfrm>
          <a:prstGeom prst="rect">
            <a:avLst/>
          </a:prstGeom>
          <a:solidFill>
            <a:srgbClr val="FFFFFF"/>
          </a:solidFill>
          <a:ln w="6350">
            <a:solidFill>
              <a:srgbClr val="F5DFB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5029200"/>
            <a:ext cx="10362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8401E"/>
                </a:solidFill>
                <a:latin typeface="Noto Serif TC" pitchFamily="34" charset="0"/>
                <a:ea typeface="Noto Serif TC" pitchFamily="34" charset="-122"/>
                <a:cs typeface="Noto Serif TC" pitchFamily="34" charset="-120"/>
              </a:rPr>
              <a:t>GitHub + Cloudflare（部署）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914400" y="5486400"/>
            <a:ext cx="103628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2A1A0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改完內容 push 到 GitHub → Cloudflare 自動 build 上線。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2A1A0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1-2 分鐘內生效，零月費。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40080" y="5989320"/>
            <a:ext cx="10911535" cy="548640"/>
          </a:xfrm>
          <a:prstGeom prst="rect">
            <a:avLst/>
          </a:prstGeom>
          <a:solidFill>
            <a:srgbClr val="FAEEDA"/>
          </a:solidFill>
          <a:ln/>
        </p:spPr>
      </p:sp>
      <p:sp>
        <p:nvSpPr>
          <p:cNvPr id="20" name="Text 18"/>
          <p:cNvSpPr/>
          <p:nvPr/>
        </p:nvSpPr>
        <p:spPr>
          <a:xfrm>
            <a:off x="822960" y="5989320"/>
            <a:ext cx="105457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8401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🔴 重要：</a:t>
            </a:r>
            <a:pPr indent="0" marL="0">
              <a:buNone/>
            </a:pPr>
            <a:r>
              <a:rPr lang="en-US" sz="1500" dirty="0">
                <a:solidFill>
                  <a:srgbClr val="2A1A0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下一步是租正式網域（例如 tiya.org.tw）。詳見下一張投影片 →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A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F9F2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6459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400" kern="0" dirty="0">
                <a:solidFill>
                  <a:srgbClr val="5C43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TIYA · 移青陣留聲機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0637215" y="644652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spc="200" kern="0" dirty="0">
                <a:solidFill>
                  <a:srgbClr val="5C431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6  /  22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685800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000000"/>
                </a:solidFill>
                <a:latin typeface="Noto Serif TC" pitchFamily="34" charset="0"/>
                <a:ea typeface="Noto Serif TC" pitchFamily="34" charset="-122"/>
                <a:cs typeface="Noto Serif TC" pitchFamily="34" charset="-120"/>
              </a:rPr>
              <a:t>🔴  </a:t>
            </a:r>
            <a:pPr indent="0" marL="0">
              <a:buNone/>
            </a:pPr>
            <a:r>
              <a:rPr lang="en-US" sz="3600" b="1" dirty="0">
                <a:solidFill>
                  <a:srgbClr val="B8401E"/>
                </a:solidFill>
                <a:latin typeface="Noto Serif TC" pitchFamily="34" charset="0"/>
                <a:ea typeface="Noto Serif TC" pitchFamily="34" charset="-122"/>
                <a:cs typeface="Noto Serif TC" pitchFamily="34" charset="-120"/>
              </a:rPr>
              <a:t>1.2 重要待討論：網域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640080" y="1554480"/>
            <a:ext cx="1280160" cy="54864"/>
          </a:xfrm>
          <a:prstGeom prst="rect">
            <a:avLst/>
          </a:prstGeom>
          <a:solidFill>
            <a:srgbClr val="CE5942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78308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5C43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換掉現在的 leepolung1.workers.dev，租一個正式網域 — 讓官網「正式存在」的最後一步。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40080" y="2423160"/>
            <a:ext cx="5318608" cy="3291840"/>
          </a:xfrm>
          <a:prstGeom prst="rect">
            <a:avLst/>
          </a:prstGeom>
          <a:solidFill>
            <a:srgbClr val="FFFFFF"/>
          </a:solidFill>
          <a:ln w="19050">
            <a:solidFill>
              <a:srgbClr val="4F794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606040"/>
            <a:ext cx="4952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4F7942"/>
                </a:solidFill>
                <a:latin typeface="Noto Serif TC" pitchFamily="34" charset="0"/>
                <a:ea typeface="Noto Serif TC" pitchFamily="34" charset="-122"/>
                <a:cs typeface="Noto Serif TC" pitchFamily="34" charset="-120"/>
              </a:rPr>
              <a:t>✅  我的建議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822960" y="3200400"/>
            <a:ext cx="4952848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2A1A0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網域種類：tiya.org.tw（.org.tw 是台灣立案 NGO 專屬，最有信任感）</a:t>
            </a:r>
            <a:endParaRPr lang="en-US" sz="1600" dirty="0"/>
          </a:p>
          <a:p>
            <a:pPr marL="279400" indent="-2794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2A1A0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註冊商：戰國策 或 匯智（台灣本地，.org.tw 流程順）</a:t>
            </a:r>
            <a:endParaRPr lang="en-US" sz="1600" dirty="0"/>
          </a:p>
          <a:p>
            <a:pPr marL="279400" indent="-2794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2A1A0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年費：NT$800-1200（含隱私保護，買 2-3 年更省事）</a:t>
            </a:r>
            <a:endParaRPr lang="en-US" sz="1600" dirty="0"/>
          </a:p>
          <a:p>
            <a:pPr marL="279400" indent="-2794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rgbClr val="2A1A0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用協會 Gmail（2024tiya@gmail.com）註冊，跟現有信箱管理機制一樣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233008" y="2423160"/>
            <a:ext cx="5318608" cy="3291840"/>
          </a:xfrm>
          <a:prstGeom prst="rect">
            <a:avLst/>
          </a:prstGeom>
          <a:solidFill>
            <a:srgbClr val="FFFFFF"/>
          </a:solidFill>
          <a:ln w="19050">
            <a:solidFill>
              <a:srgbClr val="B8401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15888" y="2606040"/>
            <a:ext cx="4952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8401E"/>
                </a:solidFill>
                <a:latin typeface="Noto Serif TC" pitchFamily="34" charset="0"/>
                <a:ea typeface="Noto Serif TC" pitchFamily="34" charset="-122"/>
                <a:cs typeface="Noto Serif TC" pitchFamily="34" charset="-120"/>
              </a:rPr>
              <a:t>🗣  例會要決議的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415888" y="3200400"/>
            <a:ext cx="4952848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2A1A0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要不要租？（建議：要）</a:t>
            </a:r>
            <a:endParaRPr lang="en-US" sz="1600" dirty="0"/>
          </a:p>
          <a:p>
            <a:pPr marL="279400" indent="-2794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2A1A0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確認名字（tiya.org.tw 是否可用，要不要備案）</a:t>
            </a:r>
            <a:endParaRPr lang="en-US" sz="1600" dirty="0"/>
          </a:p>
          <a:p>
            <a:pPr marL="279400" indent="-2794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2A1A0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誰來執行登記？（需要協會證件影本）</a:t>
            </a:r>
            <a:endParaRPr lang="en-US" sz="1600" dirty="0"/>
          </a:p>
          <a:p>
            <a:pPr marL="279400" indent="-2794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rgbClr val="2A1A0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要不要也順便申請 @tiya.org.tw 信箱？（Google for Nonprofits 免費）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40080" y="608076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C43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📄 完整細節：報告書 1.2 節（網域種類比較、註冊商價格、申請流程、自己的信箱）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A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F9F2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6459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400" kern="0" dirty="0">
                <a:solidFill>
                  <a:srgbClr val="5C43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TIYA · 移青陣留聲機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0637215" y="644652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spc="200" kern="0" dirty="0">
                <a:solidFill>
                  <a:srgbClr val="5C431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7  /  22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685800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B8401E"/>
                </a:solidFill>
                <a:latin typeface="Noto Serif TC" pitchFamily="34" charset="0"/>
                <a:ea typeface="Noto Serif TC" pitchFamily="34" charset="-122"/>
                <a:cs typeface="Noto Serif TC" pitchFamily="34" charset="-120"/>
              </a:rPr>
              <a:t>1.3 ｜ 法律邊界（重要前提）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640080" y="1554480"/>
            <a:ext cx="1280160" cy="54864"/>
          </a:xfrm>
          <a:prstGeom prst="rect">
            <a:avLst/>
          </a:prstGeom>
          <a:solidFill>
            <a:srgbClr val="CE5942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87452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A1A0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協會尚未取得勸募字號 — 網站上：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640080" y="2606040"/>
            <a:ext cx="5318608" cy="2926080"/>
          </a:xfrm>
          <a:prstGeom prst="rect">
            <a:avLst/>
          </a:prstGeom>
          <a:solidFill>
            <a:srgbClr val="FFFFFF"/>
          </a:solidFill>
          <a:ln w="19050">
            <a:solidFill>
              <a:srgbClr val="4F794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788920"/>
            <a:ext cx="4952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4F7942"/>
                </a:solidFill>
                <a:latin typeface="Noto Serif TC" pitchFamily="34" charset="0"/>
                <a:ea typeface="Noto Serif TC" pitchFamily="34" charset="-122"/>
                <a:cs typeface="Noto Serif TC" pitchFamily="34" charset="-120"/>
              </a:rPr>
              <a:t>✅  可以做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822960" y="3383280"/>
            <a:ext cx="4952848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2A1A0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被動提供匯款帳戶資訊</a:t>
            </a:r>
            <a:endParaRPr lang="en-US" sz="17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2A1A0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捐款收據說明</a:t>
            </a:r>
            <a:endParaRPr lang="en-US" sz="17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2A1A0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匯款後的通知表單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233008" y="2606040"/>
            <a:ext cx="5318608" cy="2926080"/>
          </a:xfrm>
          <a:prstGeom prst="rect">
            <a:avLst/>
          </a:prstGeom>
          <a:solidFill>
            <a:srgbClr val="FFFFFF"/>
          </a:solidFill>
          <a:ln w="19050">
            <a:solidFill>
              <a:srgbClr val="B8401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15888" y="2788920"/>
            <a:ext cx="4952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8401E"/>
                </a:solidFill>
                <a:latin typeface="Noto Serif TC" pitchFamily="34" charset="0"/>
                <a:ea typeface="Noto Serif TC" pitchFamily="34" charset="-122"/>
                <a:cs typeface="Noto Serif TC" pitchFamily="34" charset="-120"/>
              </a:rPr>
              <a:t>❌  不能做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415888" y="3383280"/>
            <a:ext cx="4952848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2A1A0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「Donate Now」「支持我們」這類號召性按鈕</a:t>
            </a:r>
            <a:endParaRPr lang="en-US" sz="17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2A1A0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「100 元＝場地費」這類捐款金額示意</a:t>
            </a:r>
            <a:endParaRPr lang="en-US" sz="17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2A1A0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任何「請捐款」訊息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2A1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F9F2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400" kern="0" dirty="0">
                <a:solidFill>
                  <a:srgbClr val="FAEED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TIYA · 移青陣留聲機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1783080"/>
            <a:ext cx="32004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0" b="1" dirty="0">
                <a:solidFill>
                  <a:srgbClr val="EF9F27"/>
                </a:solidFill>
                <a:latin typeface="Noto Serif TC" pitchFamily="34" charset="0"/>
                <a:ea typeface="Noto Serif TC" pitchFamily="34" charset="-122"/>
                <a:cs typeface="Noto Serif TC" pitchFamily="34" charset="-120"/>
              </a:rPr>
              <a:t>二</a:t>
            </a:r>
            <a:endParaRPr lang="en-US" sz="20000" dirty="0"/>
          </a:p>
        </p:txBody>
      </p:sp>
      <p:sp>
        <p:nvSpPr>
          <p:cNvPr id="5" name="Text 3"/>
          <p:cNvSpPr/>
          <p:nvPr/>
        </p:nvSpPr>
        <p:spPr>
          <a:xfrm>
            <a:off x="3840480" y="2514600"/>
            <a:ext cx="7772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AF0"/>
                </a:solidFill>
                <a:latin typeface="Noto Serif TC" pitchFamily="34" charset="0"/>
                <a:ea typeface="Noto Serif TC" pitchFamily="34" charset="-122"/>
                <a:cs typeface="Noto Serif TC" pitchFamily="34" charset="-120"/>
              </a:rPr>
              <a:t>為什麼需要自己的官網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3840480" y="365760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i="1" spc="400" kern="0" dirty="0">
                <a:solidFill>
                  <a:srgbClr val="CE5942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Why Owning a Website Matters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3840480" y="4343400"/>
            <a:ext cx="1280160" cy="54864"/>
          </a:xfrm>
          <a:prstGeom prst="rect">
            <a:avLst/>
          </a:prstGeom>
          <a:solidFill>
            <a:srgbClr val="CE5942"/>
          </a:solidFill>
          <a:ln/>
        </p:spPr>
      </p:sp>
      <p:sp>
        <p:nvSpPr>
          <p:cNvPr id="8" name="Text 6"/>
          <p:cNvSpPr/>
          <p:nvPr/>
        </p:nvSpPr>
        <p:spPr>
          <a:xfrm>
            <a:off x="10637215" y="644652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spc="200" kern="0" dirty="0">
                <a:solidFill>
                  <a:srgbClr val="FAEED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8  /  22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A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F9F2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6459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400" kern="0" dirty="0">
                <a:solidFill>
                  <a:srgbClr val="5C43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TIYA · 移青陣留聲機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0637215" y="644652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spc="200" kern="0" dirty="0">
                <a:solidFill>
                  <a:srgbClr val="5C431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9  /  22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685800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B8401E"/>
                </a:solidFill>
                <a:latin typeface="Noto Serif TC" pitchFamily="34" charset="0"/>
                <a:ea typeface="Noto Serif TC" pitchFamily="34" charset="-122"/>
                <a:cs typeface="Noto Serif TC" pitchFamily="34" charset="-120"/>
              </a:rPr>
              <a:t>為什麼需要官網？(1/3)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640080" y="1554480"/>
            <a:ext cx="1280160" cy="54864"/>
          </a:xfrm>
          <a:prstGeom prst="rect">
            <a:avLst/>
          </a:prstGeom>
          <a:solidFill>
            <a:srgbClr val="CE5942"/>
          </a:solidFill>
          <a:ln/>
        </p:spPr>
      </p:sp>
      <p:sp>
        <p:nvSpPr>
          <p:cNvPr id="7" name="Shape 5"/>
          <p:cNvSpPr/>
          <p:nvPr/>
        </p:nvSpPr>
        <p:spPr>
          <a:xfrm>
            <a:off x="640080" y="1965960"/>
            <a:ext cx="914400" cy="914400"/>
          </a:xfrm>
          <a:prstGeom prst="ellipse">
            <a:avLst/>
          </a:prstGeom>
          <a:solidFill>
            <a:srgbClr val="B8401E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96596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AF0"/>
                </a:solidFill>
                <a:latin typeface="Noto Serif TC" pitchFamily="34" charset="0"/>
                <a:ea typeface="Noto Serif TC" pitchFamily="34" charset="-122"/>
                <a:cs typeface="Noto Serif TC" pitchFamily="34" charset="-120"/>
              </a:rPr>
              <a:t>2.1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1783080" y="1874520"/>
            <a:ext cx="9768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8401E"/>
                </a:solidFill>
                <a:latin typeface="Noto Serif TC" pitchFamily="34" charset="0"/>
                <a:ea typeface="Noto Serif TC" pitchFamily="34" charset="-122"/>
                <a:cs typeface="Noto Serif TC" pitchFamily="34" charset="-120"/>
              </a:rPr>
              <a:t>訊息主導權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1783080" y="2514600"/>
            <a:ext cx="976853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2A1A0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社群演算法不是協會控制的。FB 一調，觸及率掉到 10%。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2A1A0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Meta 哪天封了帳號、IG 哪天倒了 — 故事還在自己的網域上。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640080" y="4389120"/>
            <a:ext cx="914400" cy="914400"/>
          </a:xfrm>
          <a:prstGeom prst="ellipse">
            <a:avLst/>
          </a:prstGeom>
          <a:solidFill>
            <a:srgbClr val="B8401E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438912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AF0"/>
                </a:solidFill>
                <a:latin typeface="Noto Serif TC" pitchFamily="34" charset="0"/>
                <a:ea typeface="Noto Serif TC" pitchFamily="34" charset="-122"/>
                <a:cs typeface="Noto Serif TC" pitchFamily="34" charset="-120"/>
              </a:rPr>
              <a:t>2.2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1783080" y="4297680"/>
            <a:ext cx="9768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8401E"/>
                </a:solidFill>
                <a:latin typeface="Noto Serif TC" pitchFamily="34" charset="0"/>
                <a:ea typeface="Noto Serif TC" pitchFamily="34" charset="-122"/>
                <a:cs typeface="Noto Serif TC" pitchFamily="34" charset="-120"/>
              </a:rPr>
              <a:t>對外的「正門」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1783080" y="4937760"/>
            <a:ext cx="976853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2A1A0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記者、立委、學者、企業要找協會時，第一件事是 Google。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2A1A0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看到的是 FB 還是官網，給的信任感差很多。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A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F9F2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6459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400" kern="0" dirty="0">
                <a:solidFill>
                  <a:srgbClr val="5C43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TIYA · 移青陣留聲機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0637215" y="644652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spc="200" kern="0" dirty="0">
                <a:solidFill>
                  <a:srgbClr val="5C431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10  /  22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685800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B8401E"/>
                </a:solidFill>
                <a:latin typeface="Noto Serif TC" pitchFamily="34" charset="0"/>
                <a:ea typeface="Noto Serif TC" pitchFamily="34" charset="-122"/>
                <a:cs typeface="Noto Serif TC" pitchFamily="34" charset="-120"/>
              </a:rPr>
              <a:t>為什麼需要官網？(2/3)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640080" y="1554480"/>
            <a:ext cx="1280160" cy="54864"/>
          </a:xfrm>
          <a:prstGeom prst="rect">
            <a:avLst/>
          </a:prstGeom>
          <a:solidFill>
            <a:srgbClr val="CE5942"/>
          </a:solidFill>
          <a:ln/>
        </p:spPr>
      </p:sp>
      <p:sp>
        <p:nvSpPr>
          <p:cNvPr id="7" name="Shape 5"/>
          <p:cNvSpPr/>
          <p:nvPr/>
        </p:nvSpPr>
        <p:spPr>
          <a:xfrm>
            <a:off x="640080" y="1965960"/>
            <a:ext cx="914400" cy="914400"/>
          </a:xfrm>
          <a:prstGeom prst="ellipse">
            <a:avLst/>
          </a:prstGeom>
          <a:solidFill>
            <a:srgbClr val="B8401E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96596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AF0"/>
                </a:solidFill>
                <a:latin typeface="Noto Serif TC" pitchFamily="34" charset="0"/>
                <a:ea typeface="Noto Serif TC" pitchFamily="34" charset="-122"/>
                <a:cs typeface="Noto Serif TC" pitchFamily="34" charset="-120"/>
              </a:rPr>
              <a:t>2.3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1783080" y="1874520"/>
            <a:ext cx="9768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8401E"/>
                </a:solidFill>
                <a:latin typeface="Noto Serif TC" pitchFamily="34" charset="0"/>
                <a:ea typeface="Noto Serif TC" pitchFamily="34" charset="-122"/>
                <a:cs typeface="Noto Serif TC" pitchFamily="34" charset="-120"/>
              </a:rPr>
              <a:t>SEO — 被陌生人主動 Google 到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1783080" y="2514600"/>
            <a:ext cx="976853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2A1A0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社群貼文 Google 搜不太到，官網文章每篇都是長期入口。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2A1A0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民眾搜「新二代 身分認同」「移民工 政策」時，官網內容會出現。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640080" y="4023360"/>
            <a:ext cx="73152" cy="1691640"/>
          </a:xfrm>
          <a:prstGeom prst="rect">
            <a:avLst/>
          </a:prstGeom>
          <a:solidFill>
            <a:srgbClr val="CE5942"/>
          </a:solidFill>
          <a:ln/>
        </p:spPr>
      </p:sp>
      <p:sp>
        <p:nvSpPr>
          <p:cNvPr id="12" name="Text 10"/>
          <p:cNvSpPr/>
          <p:nvPr/>
        </p:nvSpPr>
        <p:spPr>
          <a:xfrm>
            <a:off x="868680" y="4023360"/>
            <a:ext cx="10682935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8401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補充</a:t>
            </a:r>
            <a:pPr indent="0" marL="0">
              <a:buNone/>
            </a:pPr>
            <a:r>
              <a:rPr lang="en-US" sz="1600" i="1" dirty="0">
                <a:solidFill>
                  <a:srgbClr val="5C43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：不是說社群沒用了。限時動態、即時活動快訊、互動式留言 — 社群仍然是主場。重點是「不同類型內容用不同管道」：永久性的放官網，即時／互動性的放社群。兩者互補，不是替代。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A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F9F2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6459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400" kern="0" dirty="0">
                <a:solidFill>
                  <a:srgbClr val="5C43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TIYA · 移青陣留聲機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0637215" y="644652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spc="200" kern="0" dirty="0">
                <a:solidFill>
                  <a:srgbClr val="5C431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11  /  22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685800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B8401E"/>
                </a:solidFill>
                <a:latin typeface="Noto Serif TC" pitchFamily="34" charset="0"/>
                <a:ea typeface="Noto Serif TC" pitchFamily="34" charset="-122"/>
                <a:cs typeface="Noto Serif TC" pitchFamily="34" charset="-120"/>
              </a:rPr>
              <a:t>為什麼需要官網？(3/3)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640080" y="1554480"/>
            <a:ext cx="1280160" cy="54864"/>
          </a:xfrm>
          <a:prstGeom prst="rect">
            <a:avLst/>
          </a:prstGeom>
          <a:solidFill>
            <a:srgbClr val="CE5942"/>
          </a:solidFill>
          <a:ln/>
        </p:spPr>
      </p:sp>
      <p:sp>
        <p:nvSpPr>
          <p:cNvPr id="7" name="Shape 5"/>
          <p:cNvSpPr/>
          <p:nvPr/>
        </p:nvSpPr>
        <p:spPr>
          <a:xfrm>
            <a:off x="640080" y="1965960"/>
            <a:ext cx="914400" cy="914400"/>
          </a:xfrm>
          <a:prstGeom prst="ellipse">
            <a:avLst/>
          </a:prstGeom>
          <a:solidFill>
            <a:srgbClr val="B8401E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96596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AF0"/>
                </a:solidFill>
                <a:latin typeface="Noto Serif TC" pitchFamily="34" charset="0"/>
                <a:ea typeface="Noto Serif TC" pitchFamily="34" charset="-122"/>
                <a:cs typeface="Noto Serif TC" pitchFamily="34" charset="-120"/>
              </a:rPr>
              <a:t>2.4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1783080" y="1874520"/>
            <a:ext cx="9768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8401E"/>
                </a:solidFill>
                <a:latin typeface="Noto Serif TC" pitchFamily="34" charset="0"/>
                <a:ea typeface="Noto Serif TC" pitchFamily="34" charset="-122"/>
                <a:cs typeface="Noto Serif TC" pitchFamily="34" charset="-120"/>
              </a:rPr>
              <a:t>國際對話的入口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1783080" y="2514600"/>
            <a:ext cx="976853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2A1A0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英文版讓我們有資格出現在國際移民倡議、人權報告、跨國 NGO 場合。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2A1A0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IG／FB 國際讀者不熟悉，但他們會看英文網頁。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640080" y="4389120"/>
            <a:ext cx="914400" cy="914400"/>
          </a:xfrm>
          <a:prstGeom prst="ellipse">
            <a:avLst/>
          </a:prstGeom>
          <a:solidFill>
            <a:srgbClr val="B8401E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438912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AF0"/>
                </a:solidFill>
                <a:latin typeface="Noto Serif TC" pitchFamily="34" charset="0"/>
                <a:ea typeface="Noto Serif TC" pitchFamily="34" charset="-122"/>
                <a:cs typeface="Noto Serif TC" pitchFamily="34" charset="-120"/>
              </a:rPr>
              <a:t>2.5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1783080" y="4297680"/>
            <a:ext cx="9768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8401E"/>
                </a:solidFill>
                <a:latin typeface="Noto Serif TC" pitchFamily="34" charset="0"/>
                <a:ea typeface="Noto Serif TC" pitchFamily="34" charset="-122"/>
                <a:cs typeface="Noto Serif TC" pitchFamily="34" charset="-120"/>
              </a:rPr>
              <a:t>內容是資產，不是即時動態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1783080" y="4937760"/>
            <a:ext cx="976853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2A1A0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社群貼文生命週期是「幾天」。網站上的故事、活動紀錄、年度報告是「永遠」。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2A1A0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五年後新進的工作者、合作夥伴、研究者都還能完整看到歷程。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A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F9F2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6459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400" kern="0" dirty="0">
                <a:solidFill>
                  <a:srgbClr val="5C43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TIYA · 移青陣留聲機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0637215" y="644652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spc="200" kern="0" dirty="0">
                <a:solidFill>
                  <a:srgbClr val="5C431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12  /  22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685800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B8401E"/>
                </a:solidFill>
                <a:latin typeface="Noto Serif TC" pitchFamily="34" charset="0"/>
                <a:ea typeface="Noto Serif TC" pitchFamily="34" charset="-122"/>
                <a:cs typeface="Noto Serif TC" pitchFamily="34" charset="-120"/>
              </a:rPr>
              <a:t>2.6 ｜⚪ 可討論：身份分流入口？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640080" y="1554480"/>
            <a:ext cx="1280160" cy="54864"/>
          </a:xfrm>
          <a:prstGeom prst="rect">
            <a:avLst/>
          </a:prstGeom>
          <a:solidFill>
            <a:srgbClr val="CE5942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87452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A1A0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一進站就讓訪客自己選身份，例如「我是個人／我是媒體／我是學者」。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640080" y="2697480"/>
            <a:ext cx="5318608" cy="2788920"/>
          </a:xfrm>
          <a:prstGeom prst="rect">
            <a:avLst/>
          </a:prstGeom>
          <a:solidFill>
            <a:srgbClr val="FFFFFF"/>
          </a:solidFill>
          <a:ln w="19050">
            <a:solidFill>
              <a:srgbClr val="4F794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880360"/>
            <a:ext cx="4952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4F7942"/>
                </a:solidFill>
                <a:latin typeface="Noto Serif TC" pitchFamily="34" charset="0"/>
                <a:ea typeface="Noto Serif TC" pitchFamily="34" charset="-122"/>
                <a:cs typeface="Noto Serif TC" pitchFamily="34" charset="-120"/>
              </a:rPr>
              <a:t>✅  好處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822960" y="3474720"/>
            <a:ext cx="495284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2A1A0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訪客一進來就知道往哪走</a:t>
            </a:r>
            <a:endParaRPr lang="en-US" sz="1800" dirty="0"/>
          </a:p>
          <a:p>
            <a:pPr marL="279400" indent="-2794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2A1A0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節省雙方時間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6233008" y="2697480"/>
            <a:ext cx="5318608" cy="2788920"/>
          </a:xfrm>
          <a:prstGeom prst="rect">
            <a:avLst/>
          </a:prstGeom>
          <a:solidFill>
            <a:srgbClr val="FFFFFF"/>
          </a:solidFill>
          <a:ln w="19050">
            <a:solidFill>
              <a:srgbClr val="B8401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15888" y="2880360"/>
            <a:ext cx="4952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8401E"/>
                </a:solidFill>
                <a:latin typeface="Noto Serif TC" pitchFamily="34" charset="0"/>
                <a:ea typeface="Noto Serif TC" pitchFamily="34" charset="-122"/>
                <a:cs typeface="Noto Serif TC" pitchFamily="34" charset="-120"/>
              </a:rPr>
              <a:t>⚠️  壞處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415888" y="3474720"/>
            <a:ext cx="495284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2A1A0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需要協會內部清楚的窗口分工</a:t>
            </a:r>
            <a:endParaRPr lang="en-US" sz="1800" dirty="0"/>
          </a:p>
          <a:p>
            <a:pPr marL="279400" indent="-2794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2A1A0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（媒體找誰回？民眾求助找誰？學術合作找誰？）</a:t>
            </a:r>
            <a:endParaRPr lang="en-US" sz="1800" dirty="0"/>
          </a:p>
          <a:p>
            <a:pPr marL="279400" indent="-2794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2A1A0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分流後沒人接，反而更糟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2A1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F9F2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400" kern="0" dirty="0">
                <a:solidFill>
                  <a:srgbClr val="FAEED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TIYA · 移青陣留聲機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1783080"/>
            <a:ext cx="32004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0" b="1" dirty="0">
                <a:solidFill>
                  <a:srgbClr val="EF9F27"/>
                </a:solidFill>
                <a:latin typeface="Noto Serif TC" pitchFamily="34" charset="0"/>
                <a:ea typeface="Noto Serif TC" pitchFamily="34" charset="-122"/>
                <a:cs typeface="Noto Serif TC" pitchFamily="34" charset="-120"/>
              </a:rPr>
              <a:t>三</a:t>
            </a:r>
            <a:endParaRPr lang="en-US" sz="20000" dirty="0"/>
          </a:p>
        </p:txBody>
      </p:sp>
      <p:sp>
        <p:nvSpPr>
          <p:cNvPr id="5" name="Text 3"/>
          <p:cNvSpPr/>
          <p:nvPr/>
        </p:nvSpPr>
        <p:spPr>
          <a:xfrm>
            <a:off x="3840480" y="2514600"/>
            <a:ext cx="7772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AF0"/>
                </a:solidFill>
                <a:latin typeface="Noto Serif TC" pitchFamily="34" charset="0"/>
                <a:ea typeface="Noto Serif TC" pitchFamily="34" charset="-122"/>
                <a:cs typeface="Noto Serif TC" pitchFamily="34" charset="-120"/>
              </a:rPr>
              <a:t>現有區塊可以加強什麼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3840480" y="365760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i="1" spc="400" kern="0" dirty="0">
                <a:solidFill>
                  <a:srgbClr val="CE5942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Improvements to Existing Sections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3840480" y="4343400"/>
            <a:ext cx="1280160" cy="54864"/>
          </a:xfrm>
          <a:prstGeom prst="rect">
            <a:avLst/>
          </a:prstGeom>
          <a:solidFill>
            <a:srgbClr val="CE5942"/>
          </a:solidFill>
          <a:ln/>
        </p:spPr>
      </p:sp>
      <p:sp>
        <p:nvSpPr>
          <p:cNvPr id="8" name="Text 6"/>
          <p:cNvSpPr/>
          <p:nvPr/>
        </p:nvSpPr>
        <p:spPr>
          <a:xfrm>
            <a:off x="10637215" y="644652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spc="200" kern="0" dirty="0">
                <a:solidFill>
                  <a:srgbClr val="FAEED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13  /  22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A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F9F2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6459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400" kern="0" dirty="0">
                <a:solidFill>
                  <a:srgbClr val="5C43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TIYA · 移青陣留聲機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0637215" y="644652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spc="200" kern="0" dirty="0">
                <a:solidFill>
                  <a:srgbClr val="5C431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14  /  22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685800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B8401E"/>
                </a:solidFill>
                <a:latin typeface="Noto Serif TC" pitchFamily="34" charset="0"/>
                <a:ea typeface="Noto Serif TC" pitchFamily="34" charset="-122"/>
                <a:cs typeface="Noto Serif TC" pitchFamily="34" charset="-120"/>
              </a:rPr>
              <a:t>改進建議 (1/2) ｜Hero / About / News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640080" y="1554480"/>
            <a:ext cx="1280160" cy="54864"/>
          </a:xfrm>
          <a:prstGeom prst="rect">
            <a:avLst/>
          </a:prstGeom>
          <a:solidFill>
            <a:srgbClr val="CE5942"/>
          </a:solidFill>
          <a:ln/>
        </p:spPr>
      </p:sp>
      <p:sp>
        <p:nvSpPr>
          <p:cNvPr id="7" name="Shape 5"/>
          <p:cNvSpPr/>
          <p:nvPr/>
        </p:nvSpPr>
        <p:spPr>
          <a:xfrm>
            <a:off x="640080" y="1874520"/>
            <a:ext cx="109728" cy="1371600"/>
          </a:xfrm>
          <a:prstGeom prst="rect">
            <a:avLst/>
          </a:prstGeom>
          <a:solidFill>
            <a:srgbClr val="CE5942"/>
          </a:solidFill>
          <a:ln/>
        </p:spPr>
      </p:sp>
      <p:sp>
        <p:nvSpPr>
          <p:cNvPr id="8" name="Text 6"/>
          <p:cNvSpPr/>
          <p:nvPr/>
        </p:nvSpPr>
        <p:spPr>
          <a:xfrm>
            <a:off x="868680" y="196596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B8401E"/>
                </a:solidFill>
                <a:latin typeface="Noto Serif TC" pitchFamily="34" charset="0"/>
                <a:ea typeface="Noto Serif TC" pitchFamily="34" charset="-122"/>
                <a:cs typeface="Noto Serif TC" pitchFamily="34" charset="-120"/>
              </a:rPr>
              <a:t>3.1 Hero  🔴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868680" y="2514600"/>
            <a:ext cx="106829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A1A0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加一句情感入口式的標語（目前是描述句）。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A1A0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方向：「讓每一個新二代的聲音都被聽見」「家鄉是兩個地方，認同是一個自己」。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40080" y="3383280"/>
            <a:ext cx="109728" cy="1371600"/>
          </a:xfrm>
          <a:prstGeom prst="rect">
            <a:avLst/>
          </a:prstGeom>
          <a:solidFill>
            <a:srgbClr val="CE5942"/>
          </a:solidFill>
          <a:ln/>
        </p:spPr>
      </p:sp>
      <p:sp>
        <p:nvSpPr>
          <p:cNvPr id="11" name="Text 9"/>
          <p:cNvSpPr/>
          <p:nvPr/>
        </p:nvSpPr>
        <p:spPr>
          <a:xfrm>
            <a:off x="868680" y="347472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B8401E"/>
                </a:solidFill>
                <a:latin typeface="Noto Serif TC" pitchFamily="34" charset="0"/>
                <a:ea typeface="Noto Serif TC" pitchFamily="34" charset="-122"/>
                <a:cs typeface="Noto Serif TC" pitchFamily="34" charset="-120"/>
              </a:rPr>
              <a:t>3.2 About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868680" y="4023360"/>
            <a:ext cx="106829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A1A0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現階段沒有特別要改動。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40080" y="4892040"/>
            <a:ext cx="109728" cy="1371600"/>
          </a:xfrm>
          <a:prstGeom prst="rect">
            <a:avLst/>
          </a:prstGeom>
          <a:solidFill>
            <a:srgbClr val="CE5942"/>
          </a:solidFill>
          <a:ln/>
        </p:spPr>
      </p:sp>
      <p:sp>
        <p:nvSpPr>
          <p:cNvPr id="14" name="Text 12"/>
          <p:cNvSpPr/>
          <p:nvPr/>
        </p:nvSpPr>
        <p:spPr>
          <a:xfrm>
            <a:off x="868680" y="498348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B8401E"/>
                </a:solidFill>
                <a:latin typeface="Noto Serif TC" pitchFamily="34" charset="0"/>
                <a:ea typeface="Noto Serif TC" pitchFamily="34" charset="-122"/>
                <a:cs typeface="Noto Serif TC" pitchFamily="34" charset="-120"/>
              </a:rPr>
              <a:t>3.3 News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868680" y="5532120"/>
            <a:ext cx="106829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A1A0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每多一篇報導累積一張卡（自然累積即可）。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A1A0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⚪ 可討論：要不要做「媒體採訪聯絡單」？看協會有無人力定期更新。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A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F9F2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6459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400" kern="0" dirty="0">
                <a:solidFill>
                  <a:srgbClr val="5C43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TIYA · 移青陣留聲機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0637215" y="644652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spc="200" kern="0" dirty="0">
                <a:solidFill>
                  <a:srgbClr val="5C431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15  /  22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685800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B8401E"/>
                </a:solidFill>
                <a:latin typeface="Noto Serif TC" pitchFamily="34" charset="0"/>
                <a:ea typeface="Noto Serif TC" pitchFamily="34" charset="-122"/>
                <a:cs typeface="Noto Serif TC" pitchFamily="34" charset="-120"/>
              </a:rPr>
              <a:t>改進建議 (2/2) ｜Events / Column / Donate / Social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640080" y="1554480"/>
            <a:ext cx="1280160" cy="54864"/>
          </a:xfrm>
          <a:prstGeom prst="rect">
            <a:avLst/>
          </a:prstGeom>
          <a:solidFill>
            <a:srgbClr val="CE5942"/>
          </a:solidFill>
          <a:ln/>
        </p:spPr>
      </p:sp>
      <p:sp>
        <p:nvSpPr>
          <p:cNvPr id="7" name="Shape 5"/>
          <p:cNvSpPr/>
          <p:nvPr/>
        </p:nvSpPr>
        <p:spPr>
          <a:xfrm>
            <a:off x="640080" y="1828800"/>
            <a:ext cx="109728" cy="1005840"/>
          </a:xfrm>
          <a:prstGeom prst="rect">
            <a:avLst/>
          </a:prstGeom>
          <a:solidFill>
            <a:srgbClr val="CE5942"/>
          </a:solidFill>
          <a:ln/>
        </p:spPr>
      </p:sp>
      <p:sp>
        <p:nvSpPr>
          <p:cNvPr id="8" name="Text 6"/>
          <p:cNvSpPr/>
          <p:nvPr/>
        </p:nvSpPr>
        <p:spPr>
          <a:xfrm>
            <a:off x="868680" y="187452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B8401E"/>
                </a:solidFill>
                <a:latin typeface="Noto Serif TC" pitchFamily="34" charset="0"/>
                <a:ea typeface="Noto Serif TC" pitchFamily="34" charset="-122"/>
                <a:cs typeface="Noto Serif TC" pitchFamily="34" charset="-120"/>
              </a:rPr>
              <a:t>3.4 Events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68680" y="2331720"/>
            <a:ext cx="106829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2A1A0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已經夠用。可加：觀眾回饋摘要、活動影音 highlight。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40080" y="2926080"/>
            <a:ext cx="109728" cy="1005840"/>
          </a:xfrm>
          <a:prstGeom prst="rect">
            <a:avLst/>
          </a:prstGeom>
          <a:solidFill>
            <a:srgbClr val="CE5942"/>
          </a:solidFill>
          <a:ln/>
        </p:spPr>
      </p:sp>
      <p:sp>
        <p:nvSpPr>
          <p:cNvPr id="11" name="Text 9"/>
          <p:cNvSpPr/>
          <p:nvPr/>
        </p:nvSpPr>
        <p:spPr>
          <a:xfrm>
            <a:off x="868680" y="29718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B8401E"/>
                </a:solidFill>
                <a:latin typeface="Noto Serif TC" pitchFamily="34" charset="0"/>
                <a:ea typeface="Noto Serif TC" pitchFamily="34" charset="-122"/>
                <a:cs typeface="Noto Serif TC" pitchFamily="34" charset="-120"/>
              </a:rPr>
              <a:t>3.5 Column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868680" y="3429000"/>
            <a:ext cx="106829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2A1A0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投稿描述改成「歡迎任何人投稿」（不只成員）。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2A1A0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加一句「我們提供寫作協助，沒寫過文章的也可以投」。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0080" y="4023360"/>
            <a:ext cx="109728" cy="1005840"/>
          </a:xfrm>
          <a:prstGeom prst="rect">
            <a:avLst/>
          </a:prstGeom>
          <a:solidFill>
            <a:srgbClr val="CE5942"/>
          </a:solidFill>
          <a:ln/>
        </p:spPr>
      </p:sp>
      <p:sp>
        <p:nvSpPr>
          <p:cNvPr id="14" name="Text 12"/>
          <p:cNvSpPr/>
          <p:nvPr/>
        </p:nvSpPr>
        <p:spPr>
          <a:xfrm>
            <a:off x="868680" y="40690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B8401E"/>
                </a:solidFill>
                <a:latin typeface="Noto Serif TC" pitchFamily="34" charset="0"/>
                <a:ea typeface="Noto Serif TC" pitchFamily="34" charset="-122"/>
                <a:cs typeface="Noto Serif TC" pitchFamily="34" charset="-120"/>
              </a:rPr>
              <a:t>3.6 Donate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868680" y="4526280"/>
            <a:ext cx="106829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2A1A0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等帳戶資訊到位就把「待確認」換成實際資訊。沒有急迫性。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40080" y="5120640"/>
            <a:ext cx="109728" cy="1005840"/>
          </a:xfrm>
          <a:prstGeom prst="rect">
            <a:avLst/>
          </a:prstGeom>
          <a:solidFill>
            <a:srgbClr val="CE5942"/>
          </a:solidFill>
          <a:ln/>
        </p:spPr>
      </p:sp>
      <p:sp>
        <p:nvSpPr>
          <p:cNvPr id="17" name="Text 15"/>
          <p:cNvSpPr/>
          <p:nvPr/>
        </p:nvSpPr>
        <p:spPr>
          <a:xfrm>
            <a:off x="868680" y="51663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B8401E"/>
                </a:solidFill>
                <a:latin typeface="Noto Serif TC" pitchFamily="34" charset="0"/>
                <a:ea typeface="Noto Serif TC" pitchFamily="34" charset="-122"/>
                <a:cs typeface="Noto Serif TC" pitchFamily="34" charset="-120"/>
              </a:rPr>
              <a:t>3.7 Social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868680" y="5623560"/>
            <a:ext cx="106829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2A1A0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已加入 Threads 連結（2026-05-17 完成）。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2A1A0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YouTube / Podcast 等有影音內容再加。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2A1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F9F2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400" kern="0" dirty="0">
                <a:solidFill>
                  <a:srgbClr val="FAEED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TIYA · 移青陣留聲機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1783080"/>
            <a:ext cx="32004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0" b="1" dirty="0">
                <a:solidFill>
                  <a:srgbClr val="EF9F27"/>
                </a:solidFill>
                <a:latin typeface="Noto Serif TC" pitchFamily="34" charset="0"/>
                <a:ea typeface="Noto Serif TC" pitchFamily="34" charset="-122"/>
                <a:cs typeface="Noto Serif TC" pitchFamily="34" charset="-120"/>
              </a:rPr>
              <a:t>四</a:t>
            </a:r>
            <a:endParaRPr lang="en-US" sz="20000" dirty="0"/>
          </a:p>
        </p:txBody>
      </p:sp>
      <p:sp>
        <p:nvSpPr>
          <p:cNvPr id="5" name="Text 3"/>
          <p:cNvSpPr/>
          <p:nvPr/>
        </p:nvSpPr>
        <p:spPr>
          <a:xfrm>
            <a:off x="3840480" y="2514600"/>
            <a:ext cx="7772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AF0"/>
                </a:solidFill>
                <a:latin typeface="Noto Serif TC" pitchFamily="34" charset="0"/>
                <a:ea typeface="Noto Serif TC" pitchFamily="34" charset="-122"/>
                <a:cs typeface="Noto Serif TC" pitchFamily="34" charset="-120"/>
              </a:rPr>
              <a:t>可以新增什麼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3840480" y="365760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i="1" spc="400" kern="0" dirty="0">
                <a:solidFill>
                  <a:srgbClr val="CE5942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New Features by Timeline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3840480" y="4343400"/>
            <a:ext cx="1280160" cy="54864"/>
          </a:xfrm>
          <a:prstGeom prst="rect">
            <a:avLst/>
          </a:prstGeom>
          <a:solidFill>
            <a:srgbClr val="CE5942"/>
          </a:solidFill>
          <a:ln/>
        </p:spPr>
      </p:sp>
      <p:sp>
        <p:nvSpPr>
          <p:cNvPr id="8" name="Text 6"/>
          <p:cNvSpPr/>
          <p:nvPr/>
        </p:nvSpPr>
        <p:spPr>
          <a:xfrm>
            <a:off x="10637215" y="644652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spc="200" kern="0" dirty="0">
                <a:solidFill>
                  <a:srgbClr val="FAEED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16  /  22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A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F9F2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6459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400" kern="0" dirty="0">
                <a:solidFill>
                  <a:srgbClr val="5C43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TIYA · 移青陣留聲機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0637215" y="644652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spc="200" kern="0" dirty="0">
                <a:solidFill>
                  <a:srgbClr val="5C431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17  /  22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685800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B8401E"/>
                </a:solidFill>
                <a:latin typeface="Noto Serif TC" pitchFamily="34" charset="0"/>
                <a:ea typeface="Noto Serif TC" pitchFamily="34" charset="-122"/>
                <a:cs typeface="Noto Serif TC" pitchFamily="34" charset="-120"/>
              </a:rPr>
              <a:t>4.1 短期 ｜1-2 個月內可動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640080" y="1554480"/>
            <a:ext cx="1280160" cy="54864"/>
          </a:xfrm>
          <a:prstGeom prst="rect">
            <a:avLst/>
          </a:prstGeom>
          <a:solidFill>
            <a:srgbClr val="CE5942"/>
          </a:solidFill>
          <a:ln/>
        </p:spPr>
      </p:sp>
      <p:sp>
        <p:nvSpPr>
          <p:cNvPr id="7" name="Shape 5"/>
          <p:cNvSpPr/>
          <p:nvPr/>
        </p:nvSpPr>
        <p:spPr>
          <a:xfrm>
            <a:off x="640080" y="1965960"/>
            <a:ext cx="777240" cy="777240"/>
          </a:xfrm>
          <a:prstGeom prst="ellipse">
            <a:avLst/>
          </a:prstGeom>
          <a:solidFill>
            <a:srgbClr val="EF9F27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96596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AF0"/>
                </a:solidFill>
                <a:latin typeface="Noto Serif TC" pitchFamily="34" charset="0"/>
                <a:ea typeface="Noto Serif TC" pitchFamily="34" charset="-122"/>
                <a:cs typeface="Noto Serif TC" pitchFamily="34" charset="-120"/>
              </a:rPr>
              <a:t>A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600200" y="1920240"/>
            <a:ext cx="9951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B8401E"/>
                </a:solidFill>
                <a:latin typeface="Noto Serif TC" pitchFamily="34" charset="0"/>
                <a:ea typeface="Noto Serif TC" pitchFamily="34" charset="-122"/>
                <a:cs typeface="Noto Serif TC" pitchFamily="34" charset="-120"/>
              </a:rPr>
              <a:t>成員故事頁（「故事牆」）  🟡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1600200" y="2468880"/>
            <a:ext cx="9951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2A1A0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每位（願意公開的）成員一張卡：照片、原生國家、自述、想對台灣社會說的話。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2A1A0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呼應協會「留聲機 = 記錄聲音」的核心定位。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3474720"/>
            <a:ext cx="777240" cy="777240"/>
          </a:xfrm>
          <a:prstGeom prst="ellipse">
            <a:avLst/>
          </a:prstGeom>
          <a:solidFill>
            <a:srgbClr val="EF9F27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347472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AF0"/>
                </a:solidFill>
                <a:latin typeface="Noto Serif TC" pitchFamily="34" charset="0"/>
                <a:ea typeface="Noto Serif TC" pitchFamily="34" charset="-122"/>
                <a:cs typeface="Noto Serif TC" pitchFamily="34" charset="-120"/>
              </a:rPr>
              <a:t>B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600200" y="3429000"/>
            <a:ext cx="9951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B8401E"/>
                </a:solidFill>
                <a:latin typeface="Noto Serif TC" pitchFamily="34" charset="0"/>
                <a:ea typeface="Noto Serif TC" pitchFamily="34" charset="-122"/>
                <a:cs typeface="Noto Serif TC" pitchFamily="34" charset="-120"/>
              </a:rPr>
              <a:t>FAQ 常見問題頁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1600200" y="3977640"/>
            <a:ext cx="9951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2A1A0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回答：新二代定義？如何加入？如何投稿？為什麼還不能線上捐款？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2A1A0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減輕內部回訊息工作、為 SEO 加分。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40080" y="4983480"/>
            <a:ext cx="777240" cy="777240"/>
          </a:xfrm>
          <a:prstGeom prst="ellipse">
            <a:avLst/>
          </a:prstGeom>
          <a:solidFill>
            <a:srgbClr val="EF9F27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498348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AF0"/>
                </a:solidFill>
                <a:latin typeface="Noto Serif TC" pitchFamily="34" charset="0"/>
                <a:ea typeface="Noto Serif TC" pitchFamily="34" charset="-122"/>
                <a:cs typeface="Noto Serif TC" pitchFamily="34" charset="-120"/>
              </a:rPr>
              <a:t>C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1600200" y="4937760"/>
            <a:ext cx="9951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B8401E"/>
                </a:solidFill>
                <a:latin typeface="Noto Serif TC" pitchFamily="34" charset="0"/>
                <a:ea typeface="Noto Serif TC" pitchFamily="34" charset="-122"/>
                <a:cs typeface="Noto Serif TC" pitchFamily="34" charset="-120"/>
              </a:rPr>
              <a:t>站長後台流量觀察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1600200" y="5486400"/>
            <a:ext cx="9951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2A1A0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用 Cloudflare Web Analytics（免費、不放 cookie、隱私友善）。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2A1A0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讓協會內部能看每日訪客數、來源、熱門頁面。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A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F9F2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6459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400" kern="0" dirty="0">
                <a:solidFill>
                  <a:srgbClr val="5C43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TIYA · 移青陣留聲機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0637215" y="644652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spc="200" kern="0" dirty="0">
                <a:solidFill>
                  <a:srgbClr val="5C431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18  /  22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685800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B8401E"/>
                </a:solidFill>
                <a:latin typeface="Noto Serif TC" pitchFamily="34" charset="0"/>
                <a:ea typeface="Noto Serif TC" pitchFamily="34" charset="-122"/>
                <a:cs typeface="Noto Serif TC" pitchFamily="34" charset="-120"/>
              </a:rPr>
              <a:t>4.2 中期 ｜取得勸募字號後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640080" y="1554480"/>
            <a:ext cx="1280160" cy="54864"/>
          </a:xfrm>
          <a:prstGeom prst="rect">
            <a:avLst/>
          </a:prstGeom>
          <a:solidFill>
            <a:srgbClr val="CE5942"/>
          </a:solidFill>
          <a:ln/>
        </p:spPr>
      </p:sp>
      <p:sp>
        <p:nvSpPr>
          <p:cNvPr id="7" name="Shape 5"/>
          <p:cNvSpPr/>
          <p:nvPr/>
        </p:nvSpPr>
        <p:spPr>
          <a:xfrm>
            <a:off x="640080" y="2011680"/>
            <a:ext cx="777240" cy="777240"/>
          </a:xfrm>
          <a:prstGeom prst="ellipse">
            <a:avLst/>
          </a:prstGeom>
          <a:solidFill>
            <a:srgbClr val="EF9F27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201168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AF0"/>
                </a:solidFill>
                <a:latin typeface="Noto Serif TC" pitchFamily="34" charset="0"/>
                <a:ea typeface="Noto Serif TC" pitchFamily="34" charset="-122"/>
                <a:cs typeface="Noto Serif TC" pitchFamily="34" charset="-120"/>
              </a:rPr>
              <a:t>A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600200" y="1965960"/>
            <a:ext cx="9951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B8401E"/>
                </a:solidFill>
                <a:latin typeface="Noto Serif TC" pitchFamily="34" charset="0"/>
                <a:ea typeface="Noto Serif TC" pitchFamily="34" charset="-122"/>
                <a:cs typeface="Noto Serif TC" pitchFamily="34" charset="-120"/>
              </a:rPr>
              <a:t>完整捐款流程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600200" y="2514600"/>
            <a:ext cx="9951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600" dirty="0">
                <a:solidFill>
                  <a:srgbClr val="2A1A0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線上金流（信用卡 / Apple Pay / Line Pay）— 走 NetiCRM 或 OurStable 之類的 NGO 平台。</a:t>
            </a:r>
            <a:endParaRPr lang="en-US" sz="16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600" dirty="0">
                <a:solidFill>
                  <a:srgbClr val="2A1A0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捐款層級示意（例如「3000 元贊助辦公室半月租金」）— 例子要等協會實際開支結構出來再校準。</a:t>
            </a:r>
            <a:endParaRPr lang="en-US" sz="16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600" dirty="0">
                <a:solidFill>
                  <a:srgbClr val="2A1A0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月定額會員方案 + 收據自動寄送。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40080" y="4343400"/>
            <a:ext cx="777240" cy="777240"/>
          </a:xfrm>
          <a:prstGeom prst="ellipse">
            <a:avLst/>
          </a:prstGeom>
          <a:solidFill>
            <a:srgbClr val="EF9F27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434340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AF0"/>
                </a:solidFill>
                <a:latin typeface="Noto Serif TC" pitchFamily="34" charset="0"/>
                <a:ea typeface="Noto Serif TC" pitchFamily="34" charset="-122"/>
                <a:cs typeface="Noto Serif TC" pitchFamily="34" charset="-120"/>
              </a:rPr>
              <a:t>B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600200" y="4297680"/>
            <a:ext cx="9951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B8401E"/>
                </a:solidFill>
                <a:latin typeface="Noto Serif TC" pitchFamily="34" charset="0"/>
                <a:ea typeface="Noto Serif TC" pitchFamily="34" charset="-122"/>
                <a:cs typeface="Noto Serif TC" pitchFamily="34" charset="-120"/>
              </a:rPr>
              <a:t>年度成果報告（網頁版）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600200" y="4846320"/>
            <a:ext cx="9951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600" dirty="0">
                <a:solidFill>
                  <a:srgbClr val="2A1A0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如果未來協會有意做年度報告，做成互動式網頁（數據圖表＋精選故事＋來年方向）優於只給 PDF。</a:t>
            </a:r>
            <a:endParaRPr lang="en-US" sz="16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600" dirty="0">
                <a:solidFill>
                  <a:srgbClr val="2A1A0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是否做、何時做都看協會年度規劃，非必做。</a:t>
            </a:r>
            <a:endParaRPr lang="en-US" sz="1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A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F9F2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6459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400" kern="0" dirty="0">
                <a:solidFill>
                  <a:srgbClr val="5C43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TIYA · 移青陣留聲機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0637215" y="644652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spc="200" kern="0" dirty="0">
                <a:solidFill>
                  <a:srgbClr val="5C431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19  /  22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685800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B8401E"/>
                </a:solidFill>
                <a:latin typeface="Noto Serif TC" pitchFamily="34" charset="0"/>
                <a:ea typeface="Noto Serif TC" pitchFamily="34" charset="-122"/>
                <a:cs typeface="Noto Serif TC" pitchFamily="34" charset="-120"/>
              </a:rPr>
              <a:t>4.3 長期願景 ｜有資源才做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640080" y="1554480"/>
            <a:ext cx="1280160" cy="54864"/>
          </a:xfrm>
          <a:prstGeom prst="rect">
            <a:avLst/>
          </a:prstGeom>
          <a:solidFill>
            <a:srgbClr val="CE5942"/>
          </a:solidFill>
          <a:ln/>
        </p:spPr>
      </p:sp>
      <p:sp>
        <p:nvSpPr>
          <p:cNvPr id="7" name="Shape 5"/>
          <p:cNvSpPr/>
          <p:nvPr/>
        </p:nvSpPr>
        <p:spPr>
          <a:xfrm>
            <a:off x="640080" y="1737360"/>
            <a:ext cx="10911535" cy="457200"/>
          </a:xfrm>
          <a:prstGeom prst="rect">
            <a:avLst/>
          </a:prstGeom>
          <a:solidFill>
            <a:srgbClr val="FAEEDA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1737360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B8401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這節都是「有資源才能做、現在不必煩惱」的方向 — 當作可能性，不是承諾。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40080" y="2468880"/>
            <a:ext cx="685800" cy="685800"/>
          </a:xfrm>
          <a:prstGeom prst="ellipse">
            <a:avLst/>
          </a:prstGeom>
          <a:solidFill>
            <a:srgbClr val="CE5942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46888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AF0"/>
                </a:solidFill>
                <a:latin typeface="Noto Serif TC" pitchFamily="34" charset="0"/>
                <a:ea typeface="Noto Serif TC" pitchFamily="34" charset="-122"/>
                <a:cs typeface="Noto Serif TC" pitchFamily="34" charset="-120"/>
              </a:rPr>
              <a:t>A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463040" y="2423160"/>
            <a:ext cx="100885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B8401E"/>
                </a:solidFill>
                <a:latin typeface="Noto Serif TC" pitchFamily="34" charset="0"/>
                <a:ea typeface="Noto Serif TC" pitchFamily="34" charset="-122"/>
                <a:cs typeface="Noto Serif TC" pitchFamily="34" charset="-120"/>
              </a:rPr>
              <a:t>東南亞語系擴充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463040" y="2880360"/>
            <a:ext cx="100885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2A1A0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越南、印尼、泰國、菲律賓⋯ 至少首頁＋關於＋聯絡，象徵意義大。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2A1A0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門檻很高（要找母語者長期協助、每次更新要多語同步）。「有夢很美」方向。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40080" y="3886200"/>
            <a:ext cx="685800" cy="685800"/>
          </a:xfrm>
          <a:prstGeom prst="ellipse">
            <a:avLst/>
          </a:prstGeom>
          <a:solidFill>
            <a:srgbClr val="CE5942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388620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AF0"/>
                </a:solidFill>
                <a:latin typeface="Noto Serif TC" pitchFamily="34" charset="0"/>
                <a:ea typeface="Noto Serif TC" pitchFamily="34" charset="-122"/>
                <a:cs typeface="Noto Serif TC" pitchFamily="34" charset="-120"/>
              </a:rPr>
              <a:t>B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1463040" y="3840480"/>
            <a:ext cx="100885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B8401E"/>
                </a:solidFill>
                <a:latin typeface="Noto Serif TC" pitchFamily="34" charset="0"/>
                <a:ea typeface="Noto Serif TC" pitchFamily="34" charset="-122"/>
                <a:cs typeface="Noto Serif TC" pitchFamily="34" charset="-120"/>
              </a:rPr>
              <a:t>Podcast / 影音故事典藏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463040" y="4297680"/>
            <a:ext cx="100885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2A1A0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呼應「留聲機」品牌意象。需要設備、剪輯時間、上架費用。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2A1A0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列入「如果未來有預算可以做」。參考：StoryCorps（美國口述歷史 NGO）。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40080" y="5303520"/>
            <a:ext cx="685800" cy="685800"/>
          </a:xfrm>
          <a:prstGeom prst="ellipse">
            <a:avLst/>
          </a:prstGeom>
          <a:solidFill>
            <a:srgbClr val="CE5942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530352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AF0"/>
                </a:solidFill>
                <a:latin typeface="Noto Serif TC" pitchFamily="34" charset="0"/>
                <a:ea typeface="Noto Serif TC" pitchFamily="34" charset="-122"/>
                <a:cs typeface="Noto Serif TC" pitchFamily="34" charset="-120"/>
              </a:rPr>
              <a:t>C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1463040" y="5257800"/>
            <a:ext cx="100885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B8401E"/>
                </a:solidFill>
                <a:latin typeface="Noto Serif TC" pitchFamily="34" charset="0"/>
                <a:ea typeface="Noto Serif TC" pitchFamily="34" charset="-122"/>
                <a:cs typeface="Noto Serif TC" pitchFamily="34" charset="-120"/>
              </a:rPr>
              <a:t>議題搜尋連動的內容地圖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463040" y="5715000"/>
            <a:ext cx="100885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2A1A0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所有內容依議題（升學、勸募、認同、家庭、政策⋯）交叉索引。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2A1A0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等內容累積到 30+ 篇才有意義。</a:t>
            </a:r>
            <a:endParaRPr lang="en-US" sz="14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2A1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F9F2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400" kern="0" dirty="0">
                <a:solidFill>
                  <a:srgbClr val="FAEED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TIYA · 移青陣留聲機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1783080"/>
            <a:ext cx="32004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0" b="1" dirty="0">
                <a:solidFill>
                  <a:srgbClr val="EF9F27"/>
                </a:solidFill>
                <a:latin typeface="Noto Serif TC" pitchFamily="34" charset="0"/>
                <a:ea typeface="Noto Serif TC" pitchFamily="34" charset="-122"/>
                <a:cs typeface="Noto Serif TC" pitchFamily="34" charset="-120"/>
              </a:rPr>
              <a:t>五</a:t>
            </a:r>
            <a:endParaRPr lang="en-US" sz="20000" dirty="0"/>
          </a:p>
        </p:txBody>
      </p:sp>
      <p:sp>
        <p:nvSpPr>
          <p:cNvPr id="5" name="Text 3"/>
          <p:cNvSpPr/>
          <p:nvPr/>
        </p:nvSpPr>
        <p:spPr>
          <a:xfrm>
            <a:off x="3840480" y="2514600"/>
            <a:ext cx="7772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AF0"/>
                </a:solidFill>
                <a:latin typeface="Noto Serif TC" pitchFamily="34" charset="0"/>
                <a:ea typeface="Noto Serif TC" pitchFamily="34" charset="-122"/>
                <a:cs typeface="Noto Serif TC" pitchFamily="34" charset="-120"/>
              </a:rPr>
              <a:t>參考案例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3840480" y="365760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i="1" spc="400" kern="0" dirty="0">
                <a:solidFill>
                  <a:srgbClr val="CE5942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Reference NGOs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3840480" y="4343400"/>
            <a:ext cx="1280160" cy="54864"/>
          </a:xfrm>
          <a:prstGeom prst="rect">
            <a:avLst/>
          </a:prstGeom>
          <a:solidFill>
            <a:srgbClr val="CE5942"/>
          </a:solidFill>
          <a:ln/>
        </p:spPr>
      </p:sp>
      <p:sp>
        <p:nvSpPr>
          <p:cNvPr id="8" name="Text 6"/>
          <p:cNvSpPr/>
          <p:nvPr/>
        </p:nvSpPr>
        <p:spPr>
          <a:xfrm>
            <a:off x="10637215" y="644652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spc="200" kern="0" dirty="0">
                <a:solidFill>
                  <a:srgbClr val="FAEED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20  /  22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A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F9F2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6459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400" kern="0" dirty="0">
                <a:solidFill>
                  <a:srgbClr val="5C43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TIYA · 移青陣留聲機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0637215" y="644652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spc="200" kern="0" dirty="0">
                <a:solidFill>
                  <a:srgbClr val="5C431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21  /  22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685800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B8401E"/>
                </a:solidFill>
                <a:latin typeface="Noto Serif TC" pitchFamily="34" charset="0"/>
                <a:ea typeface="Noto Serif TC" pitchFamily="34" charset="-122"/>
                <a:cs typeface="Noto Serif TC" pitchFamily="34" charset="-120"/>
              </a:rPr>
              <a:t>參考案例 ｜三個對標的 NGO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640080" y="1554480"/>
            <a:ext cx="1280160" cy="54864"/>
          </a:xfrm>
          <a:prstGeom prst="rect">
            <a:avLst/>
          </a:prstGeom>
          <a:solidFill>
            <a:srgbClr val="CE5942"/>
          </a:solidFill>
          <a:ln/>
        </p:spPr>
      </p:sp>
      <p:sp>
        <p:nvSpPr>
          <p:cNvPr id="7" name="Shape 5"/>
          <p:cNvSpPr/>
          <p:nvPr/>
        </p:nvSpPr>
        <p:spPr>
          <a:xfrm>
            <a:off x="640080" y="1828800"/>
            <a:ext cx="10911535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F5DFB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828800"/>
            <a:ext cx="109728" cy="1417320"/>
          </a:xfrm>
          <a:prstGeom prst="rect">
            <a:avLst/>
          </a:prstGeom>
          <a:solidFill>
            <a:srgbClr val="B8401E"/>
          </a:solidFill>
          <a:ln/>
        </p:spPr>
      </p:sp>
      <p:sp>
        <p:nvSpPr>
          <p:cNvPr id="9" name="Text 7"/>
          <p:cNvSpPr/>
          <p:nvPr/>
        </p:nvSpPr>
        <p:spPr>
          <a:xfrm>
            <a:off x="914400" y="196596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B8401E"/>
                </a:solidFill>
                <a:latin typeface="Noto Serif TC" pitchFamily="34" charset="0"/>
                <a:ea typeface="Noto Serif TC" pitchFamily="34" charset="-122"/>
                <a:cs typeface="Noto Serif TC" pitchFamily="34" charset="-120"/>
              </a:rPr>
              <a:t>婦女救援基金會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914400" y="23774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spc="300" kern="0" dirty="0">
                <a:solidFill>
                  <a:srgbClr val="CE5942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TWRF · 國內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914400" y="2743200"/>
            <a:ext cx="106372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2A1A0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議題（人口販運、性暴力、慰安婦、新移民）各有獨立議題頁 + 資源庫。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2A1A0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故事為核心：當事人匿名敘事、影像紀錄。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3383280"/>
            <a:ext cx="10911535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F5DFB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0080" y="3383280"/>
            <a:ext cx="109728" cy="1417320"/>
          </a:xfrm>
          <a:prstGeom prst="rect">
            <a:avLst/>
          </a:prstGeom>
          <a:solidFill>
            <a:srgbClr val="B8401E"/>
          </a:solidFill>
          <a:ln/>
        </p:spPr>
      </p:sp>
      <p:sp>
        <p:nvSpPr>
          <p:cNvPr id="14" name="Text 12"/>
          <p:cNvSpPr/>
          <p:nvPr/>
        </p:nvSpPr>
        <p:spPr>
          <a:xfrm>
            <a:off x="914400" y="352044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B8401E"/>
                </a:solidFill>
                <a:latin typeface="Noto Serif TC" pitchFamily="34" charset="0"/>
                <a:ea typeface="Noto Serif TC" pitchFamily="34" charset="-122"/>
                <a:cs typeface="Noto Serif TC" pitchFamily="34" charset="-120"/>
              </a:rPr>
              <a:t>Define American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14400" y="39319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spc="300" kern="0" dirty="0">
                <a:solidFill>
                  <a:srgbClr val="CE5942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美國 · 和 TIYA 任務最像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14400" y="4297680"/>
            <a:ext cx="106372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2A1A0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由移民出身的記者 Jose Antonio Vargas 創辦。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2A1A0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用個人故事推動議題；有專屬「Hollywood 合作」頁面協助影視作品準確呈現移民。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40080" y="4937760"/>
            <a:ext cx="10911535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F5DFB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40080" y="4937760"/>
            <a:ext cx="109728" cy="1417320"/>
          </a:xfrm>
          <a:prstGeom prst="rect">
            <a:avLst/>
          </a:prstGeom>
          <a:solidFill>
            <a:srgbClr val="B8401E"/>
          </a:solidFill>
          <a:ln/>
        </p:spPr>
      </p:sp>
      <p:sp>
        <p:nvSpPr>
          <p:cNvPr id="19" name="Text 17"/>
          <p:cNvSpPr/>
          <p:nvPr/>
        </p:nvSpPr>
        <p:spPr>
          <a:xfrm>
            <a:off x="914400" y="507492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B8401E"/>
                </a:solidFill>
                <a:latin typeface="Noto Serif TC" pitchFamily="34" charset="0"/>
                <a:ea typeface="Noto Serif TC" pitchFamily="34" charset="-122"/>
                <a:cs typeface="Noto Serif TC" pitchFamily="34" charset="-120"/>
              </a:rPr>
              <a:t>StoryCorps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14400" y="54864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spc="300" kern="0" dirty="0">
                <a:solidFill>
                  <a:srgbClr val="CE5942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美國 · 名字呼應「留聲機」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914400" y="5852160"/>
            <a:ext cx="106372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2A1A0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純口述歷史 NGO，每段錄音都有對應網頁卡片＋文字摘要＋背景介紹。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2A1A0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「聲音故事典藏」的國際標竿。</a:t>
            </a:r>
            <a:endParaRPr lang="en-US" sz="1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A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F9F2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6459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400" kern="0" dirty="0">
                <a:solidFill>
                  <a:srgbClr val="5C43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TIYA · 移青陣留聲機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0637215" y="644652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spc="200" kern="0" dirty="0">
                <a:solidFill>
                  <a:srgbClr val="5C431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22  /  22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685800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B8401E"/>
                </a:solidFill>
                <a:latin typeface="Noto Serif TC" pitchFamily="34" charset="0"/>
                <a:ea typeface="Noto Serif TC" pitchFamily="34" charset="-122"/>
                <a:cs typeface="Noto Serif TC" pitchFamily="34" charset="-120"/>
              </a:rPr>
              <a:t>🗣  給例會的討論題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640080" y="1554480"/>
            <a:ext cx="1280160" cy="54864"/>
          </a:xfrm>
          <a:prstGeom prst="rect">
            <a:avLst/>
          </a:prstGeom>
          <a:solidFill>
            <a:srgbClr val="CE5942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82880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C43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依重要程度分三層：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40080" y="2286000"/>
            <a:ext cx="2011680" cy="365760"/>
          </a:xfrm>
          <a:prstGeom prst="rect">
            <a:avLst/>
          </a:prstGeom>
          <a:solidFill>
            <a:srgbClr val="B8401E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22860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AF0"/>
                </a:solidFill>
                <a:latin typeface="Noto Serif TC" pitchFamily="34" charset="0"/>
                <a:ea typeface="Noto Serif TC" pitchFamily="34" charset="-122"/>
                <a:cs typeface="Noto Serif TC" pitchFamily="34" charset="-120"/>
              </a:rPr>
              <a:t>🔴  重要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2743200" y="2286000"/>
            <a:ext cx="8808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43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例會當天討論並做方向決議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77240" y="2798064"/>
            <a:ext cx="411480" cy="411480"/>
          </a:xfrm>
          <a:prstGeom prst="ellipse">
            <a:avLst/>
          </a:prstGeom>
          <a:solidFill>
            <a:srgbClr val="B8401E"/>
          </a:solidFill>
          <a:ln/>
        </p:spPr>
      </p:sp>
      <p:sp>
        <p:nvSpPr>
          <p:cNvPr id="12" name="Text 10"/>
          <p:cNvSpPr/>
          <p:nvPr/>
        </p:nvSpPr>
        <p:spPr>
          <a:xfrm>
            <a:off x="777240" y="2798064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AF0"/>
                </a:solidFill>
                <a:latin typeface="Noto Serif TC" pitchFamily="34" charset="0"/>
                <a:ea typeface="Noto Serif TC" pitchFamily="34" charset="-122"/>
                <a:cs typeface="Noto Serif TC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325880" y="2761488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401E"/>
                </a:solidFill>
                <a:latin typeface="Noto Serif TC" pitchFamily="34" charset="0"/>
                <a:ea typeface="Noto Serif TC" pitchFamily="34" charset="-122"/>
                <a:cs typeface="Noto Serif TC" pitchFamily="34" charset="-120"/>
              </a:rPr>
              <a:t>網域（見 1.2）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486400" y="2761488"/>
            <a:ext cx="60652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A1A0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tiya.org.tw 要不要租？預算 NT$800-1200/年，誰執行登記？要不要順便申請 @tiya.org.tw 信箱？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77240" y="3364992"/>
            <a:ext cx="411480" cy="411480"/>
          </a:xfrm>
          <a:prstGeom prst="ellipse">
            <a:avLst/>
          </a:prstGeom>
          <a:solidFill>
            <a:srgbClr val="B8401E"/>
          </a:solidFill>
          <a:ln/>
        </p:spPr>
      </p:sp>
      <p:sp>
        <p:nvSpPr>
          <p:cNvPr id="16" name="Text 14"/>
          <p:cNvSpPr/>
          <p:nvPr/>
        </p:nvSpPr>
        <p:spPr>
          <a:xfrm>
            <a:off x="777240" y="336499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AF0"/>
                </a:solidFill>
                <a:latin typeface="Noto Serif TC" pitchFamily="34" charset="0"/>
                <a:ea typeface="Noto Serif TC" pitchFamily="34" charset="-122"/>
                <a:cs typeface="Noto Serif TC" pitchFamily="34" charset="-120"/>
              </a:rPr>
              <a:t>2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325880" y="3328416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401E"/>
                </a:solidFill>
                <a:latin typeface="Noto Serif TC" pitchFamily="34" charset="0"/>
                <a:ea typeface="Noto Serif TC" pitchFamily="34" charset="-122"/>
                <a:cs typeface="Noto Serif TC" pitchFamily="34" charset="-120"/>
              </a:rPr>
              <a:t>Hero 首屏標語（見 3.1）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5486400" y="3328416"/>
            <a:ext cx="60652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A1A0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要不要正式定一句對外口號？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40080" y="4041648"/>
            <a:ext cx="2011680" cy="365760"/>
          </a:xfrm>
          <a:prstGeom prst="rect">
            <a:avLst/>
          </a:prstGeom>
          <a:solidFill>
            <a:srgbClr val="EF9F27"/>
          </a:solidFill>
          <a:ln/>
        </p:spPr>
      </p:sp>
      <p:sp>
        <p:nvSpPr>
          <p:cNvPr id="20" name="Text 18"/>
          <p:cNvSpPr/>
          <p:nvPr/>
        </p:nvSpPr>
        <p:spPr>
          <a:xfrm>
            <a:off x="640080" y="404164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AF0"/>
                </a:solidFill>
                <a:latin typeface="Noto Serif TC" pitchFamily="34" charset="0"/>
                <a:ea typeface="Noto Serif TC" pitchFamily="34" charset="-122"/>
                <a:cs typeface="Noto Serif TC" pitchFamily="34" charset="-120"/>
              </a:rPr>
              <a:t>🟡  許願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2743200" y="4041648"/>
            <a:ext cx="8808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43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給成員許願，看意願再做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777240" y="4553712"/>
            <a:ext cx="411480" cy="411480"/>
          </a:xfrm>
          <a:prstGeom prst="ellipse">
            <a:avLst/>
          </a:prstGeom>
          <a:solidFill>
            <a:srgbClr val="EF9F27"/>
          </a:solidFill>
          <a:ln/>
        </p:spPr>
      </p:sp>
      <p:sp>
        <p:nvSpPr>
          <p:cNvPr id="23" name="Text 21"/>
          <p:cNvSpPr/>
          <p:nvPr/>
        </p:nvSpPr>
        <p:spPr>
          <a:xfrm>
            <a:off x="777240" y="455371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AF0"/>
                </a:solidFill>
                <a:latin typeface="Noto Serif TC" pitchFamily="34" charset="0"/>
                <a:ea typeface="Noto Serif TC" pitchFamily="34" charset="-122"/>
                <a:cs typeface="Noto Serif TC" pitchFamily="34" charset="-120"/>
              </a:rPr>
              <a:t>3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1325880" y="4517136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401E"/>
                </a:solidFill>
                <a:latin typeface="Noto Serif TC" pitchFamily="34" charset="0"/>
                <a:ea typeface="Noto Serif TC" pitchFamily="34" charset="-122"/>
                <a:cs typeface="Noto Serif TC" pitchFamily="34" charset="-120"/>
              </a:rPr>
              <a:t>成員故事頁（見 4.1 A）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5486400" y="4517136"/>
            <a:ext cx="60652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A1A0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願意公開自己故事的成員一張卡。完全自願。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5230368"/>
            <a:ext cx="2011680" cy="365760"/>
          </a:xfrm>
          <a:prstGeom prst="rect">
            <a:avLst/>
          </a:prstGeom>
          <a:solidFill>
            <a:srgbClr val="8A7A66"/>
          </a:solidFill>
          <a:ln/>
        </p:spPr>
      </p:sp>
      <p:sp>
        <p:nvSpPr>
          <p:cNvPr id="27" name="Text 25"/>
          <p:cNvSpPr/>
          <p:nvPr/>
        </p:nvSpPr>
        <p:spPr>
          <a:xfrm>
            <a:off x="640080" y="523036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AF0"/>
                </a:solidFill>
                <a:latin typeface="Noto Serif TC" pitchFamily="34" charset="0"/>
                <a:ea typeface="Noto Serif TC" pitchFamily="34" charset="-122"/>
                <a:cs typeface="Noto Serif TC" pitchFamily="34" charset="-120"/>
              </a:rPr>
              <a:t>⚪  非必要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2743200" y="5230368"/>
            <a:ext cx="8808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43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想聊就聊，不聊也沒差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777240" y="5742432"/>
            <a:ext cx="411480" cy="411480"/>
          </a:xfrm>
          <a:prstGeom prst="ellipse">
            <a:avLst/>
          </a:prstGeom>
          <a:solidFill>
            <a:srgbClr val="8A7A66"/>
          </a:solidFill>
          <a:ln/>
        </p:spPr>
      </p:sp>
      <p:sp>
        <p:nvSpPr>
          <p:cNvPr id="30" name="Text 28"/>
          <p:cNvSpPr/>
          <p:nvPr/>
        </p:nvSpPr>
        <p:spPr>
          <a:xfrm>
            <a:off x="777240" y="574243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AF0"/>
                </a:solidFill>
                <a:latin typeface="Noto Serif TC" pitchFamily="34" charset="0"/>
                <a:ea typeface="Noto Serif TC" pitchFamily="34" charset="-122"/>
                <a:cs typeface="Noto Serif TC" pitchFamily="34" charset="-120"/>
              </a:rPr>
              <a:t>4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1325880" y="5705856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401E"/>
                </a:solidFill>
                <a:latin typeface="Noto Serif TC" pitchFamily="34" charset="0"/>
                <a:ea typeface="Noto Serif TC" pitchFamily="34" charset="-122"/>
                <a:cs typeface="Noto Serif TC" pitchFamily="34" charset="-120"/>
              </a:rPr>
              <a:t>身份分流入口（見 2.6）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5486400" y="5705856"/>
            <a:ext cx="60652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A1A0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我是個人／媒體／學者分流頁面。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777240" y="6309360"/>
            <a:ext cx="411480" cy="411480"/>
          </a:xfrm>
          <a:prstGeom prst="ellipse">
            <a:avLst/>
          </a:prstGeom>
          <a:solidFill>
            <a:srgbClr val="8A7A66"/>
          </a:solidFill>
          <a:ln/>
        </p:spPr>
      </p:sp>
      <p:sp>
        <p:nvSpPr>
          <p:cNvPr id="34" name="Text 32"/>
          <p:cNvSpPr/>
          <p:nvPr/>
        </p:nvSpPr>
        <p:spPr>
          <a:xfrm>
            <a:off x="777240" y="63093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AF0"/>
                </a:solidFill>
                <a:latin typeface="Noto Serif TC" pitchFamily="34" charset="0"/>
                <a:ea typeface="Noto Serif TC" pitchFamily="34" charset="-122"/>
                <a:cs typeface="Noto Serif TC" pitchFamily="34" charset="-120"/>
              </a:rPr>
              <a:t>5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1325880" y="6272784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401E"/>
                </a:solidFill>
                <a:latin typeface="Noto Serif TC" pitchFamily="34" charset="0"/>
                <a:ea typeface="Noto Serif TC" pitchFamily="34" charset="-122"/>
                <a:cs typeface="Noto Serif TC" pitchFamily="34" charset="-120"/>
              </a:rPr>
              <a:t>媒體採訪聯絡單（見 3.3）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5486400" y="6272784"/>
            <a:ext cx="60652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A1A0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PDF 形式的協會簡介＋對外發言窗口。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TIYA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TIYA 官方網站｜例會分享</dc:title>
  <dc:subject>官方網站開發進度與下一步</dc:subject>
  <dc:creator>台灣移民青年倡議陣線協會</dc:creator>
  <cp:lastModifiedBy>台灣移民青年倡議陣線協會</cp:lastModifiedBy>
  <cp:revision>1</cp:revision>
  <dcterms:created xsi:type="dcterms:W3CDTF">2026-05-19T12:02:59Z</dcterms:created>
  <dcterms:modified xsi:type="dcterms:W3CDTF">2026-05-19T12:02:59Z</dcterms:modified>
</cp:coreProperties>
</file>